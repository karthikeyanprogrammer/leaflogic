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70bda4a2c74e1e" /><Relationship Type="http://schemas.openxmlformats.org/officeDocument/2006/relationships/extended-properties" Target="/docProps/app.xml" Id="Rdff642ef83d0449e" /><Relationship Type="http://schemas.openxmlformats.org/officeDocument/2006/relationships/officeDocument" Target="/ppt/presentation.xml" Id="R126ee57445be49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a806a15684597"/>
  </p:sldMasterIdLst>
  <p:notesMasterIdLst>
    <p:notesMasterId xmlns:r="http://schemas.openxmlformats.org/officeDocument/2006/relationships" r:id="Rfff8b1fb35a74574"/>
  </p:notesMasterIdLst>
  <p:sldIdLst>
    <p:sldId xmlns:r="http://schemas.openxmlformats.org/officeDocument/2006/relationships" id="256" r:id="Rb61a7d6836d14378"/>
    <p:sldId xmlns:r="http://schemas.openxmlformats.org/officeDocument/2006/relationships" id="257" r:id="R3e50a07ff20c4996"/>
    <p:sldId xmlns:r="http://schemas.openxmlformats.org/officeDocument/2006/relationships" id="258" r:id="R2d26512bd7414168"/>
    <p:sldId xmlns:r="http://schemas.openxmlformats.org/officeDocument/2006/relationships" id="259" r:id="Rc879ce0685664bbe"/>
    <p:sldId xmlns:r="http://schemas.openxmlformats.org/officeDocument/2006/relationships" id="260" r:id="Rb4c862fa562644c1"/>
    <p:sldId xmlns:r="http://schemas.openxmlformats.org/officeDocument/2006/relationships" id="261" r:id="Rac3cd68463404847"/>
    <p:sldId xmlns:r="http://schemas.openxmlformats.org/officeDocument/2006/relationships" id="262" r:id="R2b91aeab48384088"/>
    <p:sldId xmlns:r="http://schemas.openxmlformats.org/officeDocument/2006/relationships" id="263" r:id="Rca6a7407076f440b"/>
    <p:sldId xmlns:r="http://schemas.openxmlformats.org/officeDocument/2006/relationships" id="264" r:id="R0826fa23ab8e4a01"/>
    <p:sldId xmlns:r="http://schemas.openxmlformats.org/officeDocument/2006/relationships" id="265" r:id="R2a5f795a27184bba"/>
    <p:sldId xmlns:r="http://schemas.openxmlformats.org/officeDocument/2006/relationships" id="266" r:id="Rd80ef765bff04dd8"/>
    <p:sldId xmlns:r="http://schemas.openxmlformats.org/officeDocument/2006/relationships" id="267" r:id="R1026822772c443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897c141a64a6f" /><Relationship Type="http://schemas.openxmlformats.org/officeDocument/2006/relationships/slideMaster" Target="/ppt/slideMasters/slideMaster1.xml" Id="R1b6a806a15684597" /><Relationship Type="http://schemas.openxmlformats.org/officeDocument/2006/relationships/notesMaster" Target="/ppt/notesMasters/notesMaster1.xml" Id="Rfff8b1fb35a74574" /><Relationship Type="http://schemas.openxmlformats.org/officeDocument/2006/relationships/presProps" Target="/ppt/presProps.xml" Id="R5f7ebd69b63540f7" /><Relationship Type="http://schemas.openxmlformats.org/officeDocument/2006/relationships/viewProps" Target="/ppt/viewProps.xml" Id="R2e0c73bf82f5491e" /><Relationship Type="http://schemas.openxmlformats.org/officeDocument/2006/relationships/tableStyles" Target="/ppt/tableStyles.xml" Id="R2c35ed6da3834234" /><Relationship Type="http://schemas.openxmlformats.org/officeDocument/2006/relationships/slide" Target="/ppt/slides/slide1.xml" Id="Rb61a7d6836d14378" /><Relationship Type="http://schemas.openxmlformats.org/officeDocument/2006/relationships/slide" Target="/ppt/slides/slide2.xml" Id="R3e50a07ff20c4996" /><Relationship Type="http://schemas.openxmlformats.org/officeDocument/2006/relationships/slide" Target="/ppt/slides/slide3.xml" Id="R2d26512bd7414168" /><Relationship Type="http://schemas.openxmlformats.org/officeDocument/2006/relationships/slide" Target="/ppt/slides/slide4.xml" Id="Rc879ce0685664bbe" /><Relationship Type="http://schemas.openxmlformats.org/officeDocument/2006/relationships/slide" Target="/ppt/slides/slide5.xml" Id="Rb4c862fa562644c1" /><Relationship Type="http://schemas.openxmlformats.org/officeDocument/2006/relationships/slide" Target="/ppt/slides/slide6.xml" Id="Rac3cd68463404847" /><Relationship Type="http://schemas.openxmlformats.org/officeDocument/2006/relationships/slide" Target="/ppt/slides/slide7.xml" Id="R2b91aeab48384088" /><Relationship Type="http://schemas.openxmlformats.org/officeDocument/2006/relationships/slide" Target="/ppt/slides/slide8.xml" Id="Rca6a7407076f440b" /><Relationship Type="http://schemas.openxmlformats.org/officeDocument/2006/relationships/slide" Target="/ppt/slides/slide9.xml" Id="R0826fa23ab8e4a01" /><Relationship Type="http://schemas.openxmlformats.org/officeDocument/2006/relationships/slide" Target="/ppt/slides/slide10.xml" Id="R2a5f795a27184bba" /><Relationship Type="http://schemas.openxmlformats.org/officeDocument/2006/relationships/slide" Target="/ppt/slides/slide11.xml" Id="Rd80ef765bff04dd8" /><Relationship Type="http://schemas.openxmlformats.org/officeDocument/2006/relationships/slide" Target="/ppt/slides/slide12.xml" Id="R1026822772c443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1821041791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eb45582f37473d" /><Relationship Type="http://schemas.openxmlformats.org/officeDocument/2006/relationships/notesMaster" Target="/ppt/notesMasters/notesMaster1.xml" Id="R463052140e3f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b2a11c27d74e0d" /><Relationship Type="http://schemas.openxmlformats.org/officeDocument/2006/relationships/notesMaster" Target="/ppt/notesMasters/notesMaster1.xml" Id="Rc8db02ba9e6845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026b635c8c454e" /><Relationship Type="http://schemas.openxmlformats.org/officeDocument/2006/relationships/notesMaster" Target="/ppt/notesMasters/notesMaster1.xml" Id="R46cbe8bb195b4e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c55103a63c44a5" /><Relationship Type="http://schemas.openxmlformats.org/officeDocument/2006/relationships/notesMaster" Target="/ppt/notesMasters/notesMaster1.xml" Id="Re0b5d6430e0644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21d1f71e644ac" /><Relationship Type="http://schemas.openxmlformats.org/officeDocument/2006/relationships/notesMaster" Target="/ppt/notesMasters/notesMaster1.xml" Id="R8257ecfc386048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a1dd6b2f314ae1" /><Relationship Type="http://schemas.openxmlformats.org/officeDocument/2006/relationships/notesMaster" Target="/ppt/notesMasters/notesMaster1.xml" Id="R626f59c14a754a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e09035c974813" /><Relationship Type="http://schemas.openxmlformats.org/officeDocument/2006/relationships/notesMaster" Target="/ppt/notesMasters/notesMaster1.xml" Id="Rc00630594eba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0864fd30f041e9" /><Relationship Type="http://schemas.openxmlformats.org/officeDocument/2006/relationships/notesMaster" Target="/ppt/notesMasters/notesMaster1.xml" Id="Rad46eb497e3c4d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c5c4aa732a4697" /><Relationship Type="http://schemas.openxmlformats.org/officeDocument/2006/relationships/notesMaster" Target="/ppt/notesMasters/notesMaster1.xml" Id="Re95b3f76d1e848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3863c1e104e7e" /><Relationship Type="http://schemas.openxmlformats.org/officeDocument/2006/relationships/notesMaster" Target="/ppt/notesMasters/notesMaster1.xml" Id="Redf3f03373a74f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6f14c59d784b26" /><Relationship Type="http://schemas.openxmlformats.org/officeDocument/2006/relationships/notesMaster" Target="/ppt/notesMasters/notesMaster1.xml" Id="R8aeef64995c143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865cfd31a24d8c" /><Relationship Type="http://schemas.openxmlformats.org/officeDocument/2006/relationships/notesMaster" Target="/ppt/notesMasters/notesMaster1.xml" Id="R9cd16c814ba34b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a3b27171d45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8ef06bfe74d4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64a446d26040be" /><Relationship Type="http://schemas.openxmlformats.org/officeDocument/2006/relationships/slideLayout" Target="/ppt/slideLayouts/slideLayout1.xml" Id="Rd1d2a795dfb34777" /><Relationship Type="http://schemas.openxmlformats.org/officeDocument/2006/relationships/slideLayout" Target="/ppt/slideLayouts/slideLayout2.xml" Id="Rec90cf7ce9b24fc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d2a795dfb34777"/>
    <p:sldLayoutId xmlns:r="http://schemas.openxmlformats.org/officeDocument/2006/relationships" id="2147483650" r:id="Rec90cf7ce9b24fc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0d438f8c545bc" /><Relationship Type="http://schemas.openxmlformats.org/officeDocument/2006/relationships/image" Target="/ppt/media/image.png" Id="R9e01881e4f0b4e2d" /><Relationship Type="http://schemas.openxmlformats.org/officeDocument/2006/relationships/notesSlide" Target="/ppt/notesSlides/notesSlide1.xml" Id="R248bc0f0e6ae41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20944083b34578" /><Relationship Type="http://schemas.openxmlformats.org/officeDocument/2006/relationships/image" Target="/ppt/media/image2.png" Id="Rf7df5a6f7bc948e5" /><Relationship Type="http://schemas.openxmlformats.org/officeDocument/2006/relationships/notesSlide" Target="/ppt/notesSlides/notesSlide2.xml" Id="Rb190ba22b4e34e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e4a41a09fb4bb7" /><Relationship Type="http://schemas.openxmlformats.org/officeDocument/2006/relationships/image" Target="/ppt/media/image3.png" Id="R2d85300b53b9413c" /><Relationship Type="http://schemas.openxmlformats.org/officeDocument/2006/relationships/notesSlide" Target="/ppt/notesSlides/notesSlide3.xml" Id="R563fa37972c4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c80df8c9fc48ad" /><Relationship Type="http://schemas.openxmlformats.org/officeDocument/2006/relationships/notesSlide" Target="/ppt/notesSlides/notesSlide4.xml" Id="R04e418f028b44c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7f878b0a0435b" /><Relationship Type="http://schemas.openxmlformats.org/officeDocument/2006/relationships/image" Target="/ppt/media/image4.png" Id="Rf3b01528c78f4103" /><Relationship Type="http://schemas.openxmlformats.org/officeDocument/2006/relationships/notesSlide" Target="/ppt/notesSlides/notesSlide5.xml" Id="R6847a004442840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137c66c0984c40" /><Relationship Type="http://schemas.openxmlformats.org/officeDocument/2006/relationships/notesSlide" Target="/ppt/notesSlides/notesSlide6.xml" Id="R39dfde3d8c89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44daab858b4a26" /><Relationship Type="http://schemas.openxmlformats.org/officeDocument/2006/relationships/notesSlide" Target="/ppt/notesSlides/notesSlide7.xml" Id="R3a293c1ede664a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761a4e03542fe" /><Relationship Type="http://schemas.openxmlformats.org/officeDocument/2006/relationships/image" Target="/ppt/media/image5.png" Id="R464065c3a0b34342" /><Relationship Type="http://schemas.openxmlformats.org/officeDocument/2006/relationships/notesSlide" Target="/ppt/notesSlides/notesSlide8.xml" Id="Ra1bbfcffceb444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8a79a137d4436" /><Relationship Type="http://schemas.openxmlformats.org/officeDocument/2006/relationships/notesSlide" Target="/ppt/notesSlides/notesSlide9.xml" Id="Rd9b0ccb1c4864c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b5ae68d5b34ef9" /><Relationship Type="http://schemas.openxmlformats.org/officeDocument/2006/relationships/notesSlide" Target="/ppt/notesSlides/notesSlide10.xml" Id="R37e5f0d4cf2b44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28c6657ae403b" /><Relationship Type="http://schemas.openxmlformats.org/officeDocument/2006/relationships/image" Target="/ppt/media/image3.png" Id="Re9135c40c30d4353" /><Relationship Type="http://schemas.openxmlformats.org/officeDocument/2006/relationships/notesSlide" Target="/ppt/notesSlides/notesSlide11.xml" Id="R5f731bcc0a7f46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2de89ea3f47b3" /><Relationship Type="http://schemas.openxmlformats.org/officeDocument/2006/relationships/image" Target="/ppt/media/image6.png" Id="R03ee92d7250c490c" /><Relationship Type="http://schemas.openxmlformats.org/officeDocument/2006/relationships/notesSlide" Target="/ppt/notesSlides/notesSlide12.xml" Id="Ra372cf934bd349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1881e4f0b4e2d"/>
          <a:srcRect xmlns:a="http://schemas.openxmlformats.org/drawingml/2006/main" l="0" t="25" r="0" b="25"/>
          <a:stretch xmlns:a="http://schemas.openxmlformats.org/drawingml/2006/main"/>
        </p:blipFill>
        <p:spPr>
          <a:xfrm xmlns:a="http://schemas.openxmlformats.org/drawingml/2006/main">
            <a:off x="305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6C7A473-8686-4E68-9C2A-D149593F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658368"/>
            <a:ext cx="3621025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LEAFLOGIC</a:t>
            </a:r>
            <a:endParaRPr sz="28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38B16C-D4A5-43C0-9902-9FA7A700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56235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Plant Growth</a:t>
            </a:r>
            <a:endParaRPr sz="4300"/>
          </a:p>
          <a:p xmlns:a="http://schemas.openxmlformats.org/drawingml/2006/main">
            <a:pPr marL="0" indent="0" algn="l">
              <a:buNone/>
            </a:pPr>
            <a:r>
              <a:rPr sz="4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Intelligence &amp; Decision</a:t>
            </a:r>
            <a:endParaRPr sz="4300"/>
          </a:p>
          <a:p xmlns:a="http://schemas.openxmlformats.org/drawingml/2006/main">
            <a:pPr marL="0" indent="0" algn="l">
              <a:buNone/>
            </a:pPr>
            <a:r>
              <a:rPr sz="4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  <a:endParaRPr sz="4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90134E-3A11-4A9B-BA97-7D47BE38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529584"/>
            <a:ext cx="4846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rgbClr val="DDE9E2"/>
                </a:solidFill>
                <a:latin typeface="Aptos"/>
                <a:ea typeface="Aptos"/>
                <a:cs typeface="Aptos"/>
              </a:rPr>
              <a:t>Grow smarter by understanding your plant's history.</a:t>
            </a:r>
            <a:endParaRPr sz="1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22746DC-E578-4743-8A57-18BF4A9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329684"/>
            <a:ext cx="1627632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473B"/>
          </a:solidFill>
          <a:ln xmlns:a="http://schemas.openxmlformats.org/drawingml/2006/main" w="12700">
            <a:solidFill>
              <a:srgbClr val="2A473B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1B8D5B5-4D25-41E2-88FE-8B504B6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16552"/>
            <a:ext cx="148132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SPECIES-AWARE</a:t>
            </a:r>
            <a:endParaRPr sz="8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705456E-F75C-4F89-92B4-60D4EFA5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79" y="4306824"/>
            <a:ext cx="1901952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A473B"/>
          </a:solidFill>
          <a:ln xmlns:a="http://schemas.openxmlformats.org/drawingml/2006/main" w="12700">
            <a:solidFill>
              <a:srgbClr val="2A473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9B1868-0B54-447D-B3E4-85847AD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3" y="4382262"/>
            <a:ext cx="1847087" cy="1417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CONTEXTUAL INSIGHTS</a:t>
            </a:r>
            <a:endParaRPr sz="8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6824075-FC4C-4B68-BBDC-324F0ED8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163056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9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2A501A8-29AC-3120-D05F-0DA528EA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080708"/>
            <a:ext cx="6592449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2"/>
                </a:solidFill>
                <a:latin typeface="+mj-lt"/>
                <a:ea typeface="+mj-lt"/>
                <a:cs typeface="+mj-lt"/>
              </a:rPr>
              <a:t>PROJECT PRESENTERS : </a:t>
            </a:r>
          </a:p>
          <a:p xmlns:a="http://schemas.openxmlformats.org/drawingml/2006/main">
            <a:r>
              <a:rPr sz="1600" b="1">
                <a:solidFill>
                  <a:schemeClr val="bg2"/>
                </a:solidFill>
                <a:latin typeface="+mj-lt"/>
                <a:ea typeface="+mj-lt"/>
                <a:cs typeface="+mj-lt"/>
              </a:rPr>
              <a:t>  KARTHKEYAN P </a:t>
            </a:r>
          </a:p>
          <a:p xmlns:a="http://schemas.openxmlformats.org/drawingml/2006/main">
            <a:r>
              <a:rPr sz="1600" b="1">
                <a:solidFill>
                  <a:schemeClr val="bg2"/>
                </a:solidFill>
                <a:latin typeface="+mj-lt"/>
                <a:ea typeface="+mj-lt"/>
                <a:cs typeface="+mj-lt"/>
              </a:rPr>
              <a:t>  PRANAVE PADMANABHAN</a:t>
            </a:r>
          </a:p>
          <a:p xmlns:a="http://schemas.openxmlformats.org/drawingml/2006/main">
            <a:r>
              <a:rPr sz="1600" b="1">
                <a:solidFill>
                  <a:schemeClr val="bg2"/>
                </a:solidFill>
                <a:latin typeface="+mj-lt"/>
                <a:ea typeface="+mj-lt"/>
                <a:cs typeface="+mj-lt"/>
              </a:rPr>
              <a:t>  VINESH AYYAPPAN S P </a:t>
            </a:r>
          </a:p>
        </p:txBody>
      </p:sp>
    </p:spTree>
    <p:extLst>
      <p:ext uri="{BB962C8B-B14F-4D97-AF65-F5344CB8AC3E}">
        <p14:creationId xmlns:p14="http://schemas.microsoft.com/office/powerpoint/2010/main" val="820210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01D60C-47D8-45B1-AE11-B34FE17C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PROBLEM</a:t>
            </a:r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4C756D-EA36-49B6-BADB-4AEB8692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50019"/>
            <a:ext cx="6583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Plant care is often managed through memory, random notes and guesswork.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AAE3B0-24C9-4BDC-97E7-35594AB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624" y="4478507"/>
            <a:ext cx="5852160" cy="2580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f5a6f7bc948e5"/>
          <a:srcRect xmlns:a="http://schemas.openxmlformats.org/drawingml/2006/main" l="13093" t="0" r="13093" b="0"/>
          <a:stretch xmlns:a="http://schemas.openxmlformats.org/drawingml/2006/main"/>
        </p:blipFill>
        <p:spPr>
          <a:xfrm xmlns:a="http://schemas.openxmlformats.org/drawingml/2006/main">
            <a:off x="8046720" y="0"/>
            <a:ext cx="4142232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26E4ED8-542C-4756-9B6E-BD4B4037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2880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67A29C4-FB15-4676-B719-8E8AE3B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04872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Inconsistent watering</a:t>
            </a:r>
            <a:endParaRPr sz="14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670243-72C5-456A-AA64-DBE054B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2267712"/>
            <a:ext cx="2880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532C4DE-89C3-45D6-8D6D-B00B1952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4872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Sunlight mismatch</a:t>
            </a:r>
            <a:endParaRPr sz="14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C24AF-4DA6-4354-9EA6-7898D0CB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26664"/>
            <a:ext cx="2880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CEDE97D-219D-4C25-951B-C62929D3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63824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Temperature or humidity issues</a:t>
            </a:r>
            <a:endParaRPr sz="1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E3A35D-D9F4-4270-97DD-5EBC55C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3026664"/>
            <a:ext cx="2880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5981008-BCAE-4573-AE30-3D5D06F4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63824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Late pest or disease detection</a:t>
            </a:r>
            <a:endParaRPr sz="14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A0C8E0E-2900-4860-96A4-F03B1298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6"/>
            <a:ext cx="2880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D066BC6-AE8C-438C-ACB4-46E36A5C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22776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No organized growth history</a:t>
            </a:r>
            <a:endParaRPr sz="14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06113FD-35C3-4034-A4E4-A8AFF84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8" y="3785616"/>
            <a:ext cx="28803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92981AB-A714-4AAD-9231-982BFA36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22776"/>
            <a:ext cx="2468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Guess-based care decisions</a:t>
            </a:r>
            <a:endParaRPr sz="14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49D1920-E5E0-4B11-A912-B9B843A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20640"/>
            <a:ext cx="612648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>
                <a:alpha val="85000"/>
              </a:srgbClr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AC4AF47-4CD1-496C-BC63-B516E31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85232"/>
            <a:ext cx="1600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Core problem statement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94E2CE4-DD95-41A6-83F4-25399CC6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5230368"/>
            <a:ext cx="3886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Many plant owners struggle to understand why their plants are not growing well.</a:t>
            </a:r>
            <a:endParaRPr sz="14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41F2105-1697-4B94-9DD9-4ED21EE6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7B87B24-8E05-4659-8E0B-96A718D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871800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5300b53b9413c"/>
          <a:srcRect xmlns:a="http://schemas.openxmlformats.org/drawingml/2006/main" l="0" t="25" r="0" b="25"/>
          <a:stretch xmlns:a="http://schemas.openxmlformats.org/drawingml/2006/main"/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501BC51B-3590-48A7-AA55-A67E967D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" y="525780"/>
            <a:ext cx="5852160" cy="5257800"/>
          </a:xfrm>
          <a:prstGeom xmlns:a="http://schemas.openxmlformats.org/drawingml/2006/main" prst="roundRect">
            <a:avLst>
              <a:gd name="adj" fmla="val 2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088CCAE-EFFB-469D-9723-425E2F9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PROPOSED SOLUTION</a:t>
            </a:r>
            <a:endParaRPr sz="1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6D465AA-7C66-43C2-AB53-E4C5DD27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70432"/>
            <a:ext cx="5166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3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LeafLogic turns longitudinal plant data into actionable intelligence.</a:t>
            </a:r>
            <a:endParaRPr sz="33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A96B5EC-E327-47BE-923E-C5D61529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43200"/>
            <a:ext cx="4937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65716C"/>
                </a:solidFill>
                <a:latin typeface="Aptos"/>
                <a:ea typeface="Aptos"/>
                <a:cs typeface="Aptos"/>
              </a:rPr>
              <a:t>Users create plant profiles, log repeated care and growth data, then generate health scores, trend analysis, alerts and recommendations.</a:t>
            </a:r>
            <a:endParaRPr sz="17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4F013B0-B735-4DCB-8C24-BFE6A2C9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977640"/>
            <a:ext cx="150876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58B6379-DC01-4E2B-95D4-C897EDA7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7076"/>
            <a:ext cx="136245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Structured logging</a:t>
            </a:r>
            <a:endParaRPr sz="8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5BDB2F5-1338-4E5D-B12A-E675C97B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977640"/>
            <a:ext cx="138988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5E64A7-E97B-4130-911F-5F125BC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037076"/>
            <a:ext cx="124358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Species guidance</a:t>
            </a:r>
            <a:endParaRPr sz="8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718C432-3349-4772-8AE4-36795342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3977640"/>
            <a:ext cx="129844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06AABD7-87AD-4DFE-9EB8-F79E4C66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6" y="4037076"/>
            <a:ext cx="11521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Health scoring</a:t>
            </a:r>
            <a:endParaRPr sz="8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E604533-96B5-40F4-A38E-E3B2F86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828032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747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A multi-factor intelligence layer connects history, context and risk.</a:t>
            </a:r>
            <a:endParaRPr sz="14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0882334-6EB5-48CA-92F2-37F8DC26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70712D0-C334-4484-AD40-E204E91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97144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40CAB39-65CB-406F-8238-95DD8077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39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KEY FEATURES</a:t>
            </a:r>
            <a:endParaRPr sz="2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A2342A-CD05-4B3A-BE3B-0CB9177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69494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complete digital system for managing plant history.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D7744BE-864E-4E58-BE36-23F7A70E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64" y="1922293"/>
            <a:ext cx="3337560" cy="130553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372C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A14FC1-727F-4AA9-994A-0A48AD12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9ED47B"/>
                </a:solidFill>
                <a:latin typeface="Baskerville Old Face"/>
                <a:ea typeface="Baskerville Old Face"/>
                <a:cs typeface="Baskerville Old Face"/>
              </a:rPr>
              <a:t>Authentication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D8E02B-7228-4D18-B439-C22C852C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350008"/>
            <a:ext cx="2788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DCE8E1"/>
                </a:solidFill>
                <a:latin typeface="Baskerville Old Face"/>
                <a:ea typeface="Baskerville Old Face"/>
                <a:cs typeface="Baskerville Old Face"/>
              </a:rPr>
              <a:t>Signup, login, JWT, password hashing and protected pages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C241372-65D2-4DA0-AA0C-EFE68983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1874519"/>
            <a:ext cx="3337560" cy="134416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372C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B4B402-667D-41E2-B96D-2C6F5C2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057400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9ED47B"/>
                </a:solidFill>
                <a:latin typeface="Baskerville Old Face"/>
                <a:ea typeface="Baskerville Old Face"/>
                <a:cs typeface="Baskerville Old Face"/>
              </a:rPr>
              <a:t>Plant profiles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0CA9CFF-0DDC-4A7A-AE18-0DFB393F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350008"/>
            <a:ext cx="2788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DCE8E1"/>
                </a:solidFill>
                <a:latin typeface="Baskerville Old Face"/>
                <a:ea typeface="Baskerville Old Face"/>
                <a:cs typeface="Baskerville Old Face"/>
              </a:rPr>
              <a:t>Name, species, location, soil, pot size, planted date and notes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B60C4B-01ED-45EF-A87D-39333E1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874520"/>
            <a:ext cx="3337560" cy="1139268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372C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82456A6-4F1A-4EA7-B1C9-16FE6624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057400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9ED47B"/>
                </a:solidFill>
                <a:latin typeface="Baskerville Old Face"/>
                <a:ea typeface="Baskerville Old Face"/>
                <a:cs typeface="Baskerville Old Face"/>
              </a:rPr>
              <a:t>Species library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CFD373F-9C5E-4676-99F2-01293BDD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350008"/>
            <a:ext cx="2788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DCE8E1"/>
                </a:solidFill>
                <a:latin typeface="Baskerville Old Face"/>
                <a:ea typeface="Baskerville Old Face"/>
                <a:cs typeface="Baskerville Old Face"/>
              </a:rPr>
              <a:t>Predefined care ranges and tips for common plants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641E637-A701-4A72-A3F0-179508AC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" y="3502153"/>
            <a:ext cx="3337560" cy="98755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372C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A3443B1-DB7E-4C62-88B1-5717C64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566160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9ED47B"/>
                </a:solidFill>
                <a:latin typeface="Baskerville Old Face"/>
                <a:ea typeface="Baskerville Old Face"/>
                <a:cs typeface="Baskerville Old Face"/>
              </a:rPr>
              <a:t>Plant logs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0B50CC-8393-48F2-8F7E-59BC1A13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858768"/>
            <a:ext cx="2788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DCE8E1"/>
                </a:solidFill>
                <a:latin typeface="Baskerville Old Face"/>
                <a:ea typeface="Baskerville Old Face"/>
                <a:cs typeface="Baskerville Old Face"/>
              </a:rPr>
              <a:t>Growth, care, environment, health and optional images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E645E19-0620-4E21-A3B4-E65458F5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698" y="3502153"/>
            <a:ext cx="3337560" cy="1344166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372C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EAF54D5-3206-430C-AAA2-9CBEB9E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566160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9ED47B"/>
                </a:solidFill>
                <a:latin typeface="Baskerville Old Face"/>
                <a:ea typeface="Baskerville Old Face"/>
                <a:cs typeface="Baskerville Old Face"/>
              </a:rPr>
              <a:t>Analysis dashboard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73150D-D066-4038-BE05-EC4407C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858768"/>
            <a:ext cx="2788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DCE8E1"/>
                </a:solidFill>
                <a:latin typeface="Baskerville Old Face"/>
                <a:ea typeface="Baskerville Old Face"/>
                <a:cs typeface="Baskerville Old Face"/>
              </a:rPr>
              <a:t>Health score, weekly summary, growth trends and risk checks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C01D0CB-A82A-46F4-969F-4AA22E8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466881"/>
            <a:ext cx="3337560" cy="134416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372C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A1FE635-7C8A-48A6-8F5C-8112D110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566160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9ED47B"/>
                </a:solidFill>
                <a:latin typeface="Baskerville Old Face"/>
                <a:ea typeface="Baskerville Old Face"/>
                <a:cs typeface="Baskerville Old Face"/>
              </a:rPr>
              <a:t>Recommendations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7A4F40A-9E1C-49AF-869F-9C529201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858768"/>
            <a:ext cx="2788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>
                <a:solidFill>
                  <a:srgbClr val="DCE8E1"/>
                </a:solidFill>
                <a:latin typeface="Baskerville Old Face"/>
                <a:ea typeface="Baskerville Old Face"/>
                <a:cs typeface="Baskerville Old Face"/>
              </a:rPr>
              <a:t>Context-aware observations, likely causes and prioritized actions</a:t>
            </a:r>
            <a:endParaRPr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348AB1D-9E40-416E-8B9F-2C30AF7F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2D24A4-5CB2-44FC-B3CE-F04D9330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5435731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42DEB2F-C3D2-4CAC-A399-D4BA9FEB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HOW IT WORKS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1A8046-26DC-47EC-8BFC-8510581D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6583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0441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A connected loop: capture, analyze, learn, improve.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9588A5-3CDB-4CFF-9187-58A6337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517904"/>
            <a:ext cx="5852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9803AE1-0E1C-4B37-8A6D-9695DA24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1"/>
            <a:ext cx="210312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6C3EAFD-5CC7-44BE-B142-6B355497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" y="2061972"/>
            <a:ext cx="320040" cy="310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1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D39937-F75F-44CA-86A1-BF733631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" y="2039112"/>
            <a:ext cx="12618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User logs plant data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4C64493-1AC1-4730-83E2-CC8D5AD0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2459735"/>
            <a:ext cx="530352" cy="3017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F8A5B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5E36240-861E-487E-85D6-B604CA49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4097"/>
            <a:ext cx="210312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DAC2B2-A5B6-4381-9349-35B37F96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316" y="2958084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2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F69105A-AE1C-4CAA-B7CD-0397961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2852928"/>
            <a:ext cx="12618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LeafLogic stores history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A931F74-F929-4B70-95CB-D8B2D27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32704" y="3106161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F8A5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86B140C-B4C3-441C-B3F9-C509E26D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642616"/>
            <a:ext cx="210312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9EEEF4-1D32-4F2A-A644-E2B2BA5E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43" y="3005577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3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5F7F8B-537E-4CFC-9AB4-93E529BD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825356"/>
            <a:ext cx="1426464" cy="740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Multi-factor analysis detects patterns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05159A0-8EA4-4609-BA37-7202746B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513064" y="2596895"/>
            <a:ext cx="593614" cy="3727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F8A5B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6788984-4B3D-459F-AC0D-CDBAD03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068" y="1725929"/>
            <a:ext cx="2103120" cy="1024128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74118CE-F880-46B4-B4FB-E759A9CD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214" y="2026702"/>
            <a:ext cx="320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4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F18BA82-2D78-487C-93B6-876B723A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221" y="1923878"/>
            <a:ext cx="1363980" cy="5166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Insights, score, alerts and recommendations</a:t>
            </a:r>
            <a:endParaRPr sz="1400"/>
          </a:p>
        </p:txBody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01528c78f4103"/>
          <a:srcRect xmlns:a="http://schemas.openxmlformats.org/drawingml/2006/main" l="0" t="21473" r="0" b="21473"/>
          <a:stretch xmlns:a="http://schemas.openxmlformats.org/drawingml/2006/main"/>
        </p:blipFill>
        <p:spPr>
          <a:xfrm xmlns:a="http://schemas.openxmlformats.org/drawingml/2006/main">
            <a:off x="640080" y="4297680"/>
            <a:ext cx="4983480" cy="1600200"/>
          </a:xfrm>
          <a:prstGeom xmlns:a="http://schemas.openxmlformats.org/drawingml/2006/main" prst="rect">
            <a:avLst/>
          </a:prstGeom>
        </p:spPr>
      </p:pic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2AD34D3-09E6-427C-A8CB-A0739341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315968"/>
            <a:ext cx="5212080" cy="1572768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>
                <a:alpha val="85000"/>
              </a:srgbClr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FB93115-440C-490E-94EF-0FD35FD0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572000"/>
            <a:ext cx="15087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The difference</a:t>
            </a:r>
            <a:endParaRPr sz="14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2307B36-75CA-4500-A612-26CCD42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899877"/>
            <a:ext cx="4480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715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Instead of generic advice, LeafLogic connects each plant’s care, environment and growth history.</a:t>
            </a:r>
            <a:endParaRPr sz="1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0D5B019-E4E1-471B-8D7D-40CC674A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9DE0F10-1941-4662-BEF2-CA77692E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330012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3B6E7B-FD0D-47E3-9CA7-B2557D2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2743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HEALTH SCORE SYSTEM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8E0D81-D27A-408B-BD56-E8646087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68580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0441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multi-factor 0–100 model explains health across five dimensions.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277685B-9EEE-4151-8D9B-3494A609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" y="1864350"/>
            <a:ext cx="3886200" cy="1261872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D155FE-367D-4523-9159-CB1A196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34540"/>
            <a:ext cx="1097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826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Composite model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1D4AA47-CE2F-4750-BF02-AA3CA03C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2329292"/>
            <a:ext cx="3378615" cy="5876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0.30 Current Health + 0.25 Growth Trend + 0.20 Care Consistency + 0.15 Environment Fit + 0.10 Risk Score</a:t>
            </a:r>
            <a:endParaRPr sz="14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2709C0A-DCA5-4218-B6A6-1DA6E9C6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783080"/>
            <a:ext cx="269748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BC8DDE9-95A0-40F5-9ADC-41665AC0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920240"/>
            <a:ext cx="2103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Current health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9C6629B-0773-42B3-B040-35612A23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167128"/>
            <a:ext cx="2103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EAE4"/>
                </a:solidFill>
                <a:latin typeface="Aptos"/>
                <a:ea typeface="Aptos"/>
                <a:cs typeface="Aptos"/>
              </a:rPr>
              <a:t>Latest overall condition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4CF14C9-7BC4-4D1F-BBF7-8EB29A72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783080"/>
            <a:ext cx="2697480" cy="87166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5BE1E1-F72E-4F19-93DE-3BFB6657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920240"/>
            <a:ext cx="2103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Growth trend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42F719-CFD6-4E0F-B135-896F885B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67128"/>
            <a:ext cx="2103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EAE4"/>
                </a:solidFill>
                <a:latin typeface="Aptos"/>
                <a:ea typeface="Aptos"/>
                <a:cs typeface="Aptos"/>
              </a:rPr>
              <a:t>Height, leaves, stage changes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E9B21F3-A782-4C75-BDE7-E9ECEF75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880359"/>
            <a:ext cx="2697480" cy="856551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FDB389A-BF26-49D6-AB3B-21B183C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17520"/>
            <a:ext cx="2103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Care consistency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05F02DC-8132-4580-8000-07ED61E1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64408"/>
            <a:ext cx="2103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EAE4"/>
                </a:solidFill>
                <a:latin typeface="Aptos"/>
                <a:ea typeface="Aptos"/>
                <a:cs typeface="Aptos"/>
              </a:rPr>
              <a:t>Watering and maintenance rhythm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9E133E8-42AA-4DB4-AFC2-C5B3ABC9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880360"/>
            <a:ext cx="2697480" cy="8565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D0EF55E-8BA4-4EE9-B60E-EFFE821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017520"/>
            <a:ext cx="2103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Environment fit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5E5D2F3-EF1E-4D16-BCDB-16781708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264408"/>
            <a:ext cx="2103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EAE4"/>
                </a:solidFill>
                <a:latin typeface="Aptos"/>
                <a:ea typeface="Aptos"/>
                <a:cs typeface="Aptos"/>
              </a:rPr>
              <a:t>Sunlight, temperature, humidity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865FDE-385E-49A0-BF0E-299F188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6316"/>
            <a:ext cx="269748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FCF684-8A0D-40AC-97D6-2490404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039408"/>
            <a:ext cx="2103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Risk score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02254FA-42F6-4B95-9921-72057262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4249674"/>
            <a:ext cx="2103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DFEAE4"/>
                </a:solidFill>
                <a:latin typeface="Aptos"/>
                <a:ea typeface="Aptos"/>
                <a:cs typeface="Aptos"/>
              </a:rPr>
              <a:t>Pests, diseases and warning signs</a:t>
            </a:r>
            <a:endParaRPr sz="14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4BF63BC-B7FA-497F-A4B3-BB720DCB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58104"/>
            <a:ext cx="187452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B955558-9293-4616-BB4A-B330B96E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487426"/>
            <a:ext cx="640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85–100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25B9B4-5BD4-4697-AD57-88AA43A2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487426"/>
            <a:ext cx="822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Excellent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1577544-F4EF-4374-90BF-F5B64B1F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34311"/>
            <a:ext cx="187452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31A3E91-9CBA-439E-917E-6D1E3808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5470165"/>
            <a:ext cx="640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70–84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205B9B4-0960-40AB-91BB-D452F55B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5487426"/>
            <a:ext cx="822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Good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E8B7BC5-CC74-49A2-A37E-AFBACF87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5341122"/>
            <a:ext cx="187452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218324C-1F35-4DF6-ABFE-9929BDBE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5470165"/>
            <a:ext cx="640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C99B3D"/>
                </a:solidFill>
                <a:latin typeface="Aptos"/>
                <a:ea typeface="Aptos"/>
                <a:cs typeface="Aptos"/>
              </a:rPr>
              <a:t>50–69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A074DA5-CB6A-4C5F-9CB8-73603BC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332" y="5420433"/>
            <a:ext cx="822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Needs Attention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073AD92-82EE-4D43-936D-B85171C3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348027"/>
            <a:ext cx="187452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B901E95-004B-46D6-A60B-AEAE9719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500116"/>
            <a:ext cx="640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85A4A"/>
                </a:solidFill>
                <a:latin typeface="Aptos"/>
                <a:ea typeface="Aptos"/>
                <a:cs typeface="Aptos"/>
              </a:rPr>
              <a:t>30–49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E4AC748-E38B-4973-A80F-D2BC7D8B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5470165"/>
            <a:ext cx="822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Poor</a:t>
            </a:r>
            <a:endParaRPr sz="14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41FEB7F-D0AD-4313-BD8B-95B01108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341122"/>
            <a:ext cx="1874520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E6763DE-DA31-413A-A731-92E5BA05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470165"/>
            <a:ext cx="6400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E07060"/>
                </a:solidFill>
                <a:latin typeface="Aptos"/>
                <a:ea typeface="Aptos"/>
                <a:cs typeface="Aptos"/>
              </a:rPr>
              <a:t>0–29</a:t>
            </a:r>
            <a:endParaRPr sz="14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C4B20C5-20EC-4753-ADF2-77E2810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888" y="5449824"/>
            <a:ext cx="822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Critical</a:t>
            </a:r>
            <a:endParaRPr sz="14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8AD42FE-3ADB-4019-8C5B-71611341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E1122AC-339E-4856-AA46-C57C542D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535217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516B7D-4326-438A-99EE-31688122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SPECIES-SPECIFIC INSIGHTS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D9B5BF9-4119-4116-B867-A67F7128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6583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The same care routine does not work for every plant.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EBACA3-D2CE-46AF-91D4-75BC68F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517904"/>
            <a:ext cx="5852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4F9FD24-5E28-4458-8772-C3F23AE1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3120"/>
            <a:ext cx="1143000" cy="4114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BFBBA47-8C20-4DD0-9C86-E1BA4F7F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162556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Tomato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E6AB68-0841-4671-BF89-C20C2284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2103120"/>
            <a:ext cx="1143000" cy="4114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39FDC55-A814-4E83-A92C-CBA74DA6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162556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Basil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A59F3C8-2DA0-4DF9-8F74-FA20E557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03120"/>
            <a:ext cx="11430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E00C56-BAD3-4BF0-8ACA-DED337B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162556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Rose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6D9169-B972-40DF-ADEC-54FEE94F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103120"/>
            <a:ext cx="1143000" cy="38404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50E3B9F-5D44-4473-8CBD-DEEC71BB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162556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Mint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59B402A-6437-4727-B854-94F5E95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103120"/>
            <a:ext cx="11430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FC69F2-73F5-413E-9C74-0F2B5837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162556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Chilli</a:t>
            </a:r>
            <a:endParaRPr sz="16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12EB495-9F90-40D7-85D9-8AD39A9D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3472"/>
            <a:ext cx="1216152" cy="39561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055C21-3924-4557-AB51-8FCB4418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92908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Coriander</a:t>
            </a:r>
            <a:endParaRPr sz="16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50E0630-4518-4C88-B36E-A707B46C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2633472"/>
            <a:ext cx="1216152" cy="38162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BDDCDAB-91C7-4522-885A-6F4FCB75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692908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Aloe Vera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6F090FB-E3FD-4C0C-A173-42F04F00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33471"/>
            <a:ext cx="1143000" cy="544067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837C0F1-3761-455C-83CB-825AF618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692907"/>
            <a:ext cx="931382" cy="4023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Money Plant</a:t>
            </a:r>
            <a:endParaRPr sz="16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0DF6653-9A78-4650-990D-B83C8B83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633472"/>
            <a:ext cx="1143000" cy="38162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E5EC92F-ABC2-4D0D-A958-0F7AA090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692908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Cactus</a:t>
            </a:r>
            <a:endParaRPr sz="16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988FFA0-F783-4405-949E-55073D5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633472"/>
            <a:ext cx="1228346" cy="77266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92A9841-BF18-4B68-A58A-7BA32D7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692908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Generic Indoor Plant</a:t>
            </a:r>
            <a:endParaRPr sz="16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1663975-6F3E-47FF-930A-947A09A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762756"/>
            <a:ext cx="374904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00507C6-A76B-4CD6-A4DA-5E65B7F4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77" y="3831336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Ideal ranges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CFBED0F-4546-405C-BAE3-B5BA80C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Sunlight range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Temperature range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Preferred soil moisture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Watering frequency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DA3D684-7FF6-425B-9942-1D8B526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3742322"/>
            <a:ext cx="292608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043EEBE-EA0A-44EC-9954-B3D7CD87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3913632"/>
            <a:ext cx="1828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What gets compared</a:t>
            </a:r>
            <a:endParaRPr sz="1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ABCB2CF-E1E5-4AF6-9DD4-AC23064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24528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User logs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Recent history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Risk patterns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D10072B-1B9B-40ED-AB86-6779BE6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742322"/>
            <a:ext cx="342900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E52CA68-A68C-4BAF-8141-AA0E5D0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913632"/>
            <a:ext cx="1005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Output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4ACA6C6-25B9-433F-B285-43970782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105656"/>
            <a:ext cx="2560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Species-aware guidance with evidence and prioritized next actions.</a:t>
            </a:r>
            <a:endParaRPr sz="14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BD58757-F742-4084-92FD-B13E1E5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1A54289-22C3-4DF4-9DD1-9B9157E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461920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065c3a0b34342"/>
          <a:srcRect xmlns:a="http://schemas.openxmlformats.org/drawingml/2006/main" l="0" t="17630" r="0" b="17630"/>
          <a:stretch xmlns:a="http://schemas.openxmlformats.org/drawingml/2006/main"/>
        </p:blipFill>
        <p:spPr>
          <a:xfrm xmlns:a="http://schemas.openxmlformats.org/drawingml/2006/main">
            <a:off x="305" y="-12573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DE67C1-A70E-44CB-AF88-F731A59A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chemeClr val="accent6">
                    <a:lumMod val="50000"/>
                  </a:schemeClr>
                </a:solidFill>
                <a:latin typeface="Aptos"/>
                <a:ea typeface="Aptos"/>
                <a:cs typeface="Aptos"/>
              </a:rPr>
              <a:t>DASHBOARD &amp; ANALYSIS</a:t>
            </a:r>
            <a:endParaRPr sz="12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66F312-3AD2-4419-B641-29D2107B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6263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latin typeface="Aptos Display"/>
                <a:ea typeface="Aptos Display"/>
                <a:cs typeface="Aptos Display"/>
              </a:rPr>
              <a:t>Progressive analysis, not overwhelming dashboards</a:t>
            </a:r>
            <a:r>
              <a:rPr sz="3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3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C992845-4F50-4E94-9DB3-6D8F344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3840480" cy="393192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B3A2F"/>
          </a:solidFill>
          <a:ln xmlns:a="http://schemas.openxmlformats.org/drawingml/2006/main" w="12700">
            <a:solidFill>
              <a:srgbClr val="2F5548">
                <a:alpha val="85000"/>
              </a:srgbClr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C70A8D7-35AE-42F6-BAB6-4B4C817F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57984"/>
            <a:ext cx="3108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E8F5ED"/>
                </a:solidFill>
                <a:latin typeface="Aptos"/>
                <a:ea typeface="Aptos"/>
                <a:cs typeface="Aptos"/>
              </a:rPr>
              <a:t>Generate Health Score</a:t>
            </a:r>
            <a:endParaRPr sz="14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0540EB0-6C2B-4CAC-BD05-58CEFF20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51760"/>
            <a:ext cx="3840480" cy="393192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B3A2F"/>
          </a:solidFill>
          <a:ln xmlns:a="http://schemas.openxmlformats.org/drawingml/2006/main" w="12700">
            <a:solidFill>
              <a:srgbClr val="2F5548">
                <a:alpha val="85000"/>
              </a:srgbClr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1283E02-CE8F-4505-8181-CD003B99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52344"/>
            <a:ext cx="3108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E8F5ED"/>
                </a:solidFill>
                <a:latin typeface="Aptos"/>
                <a:ea typeface="Aptos"/>
                <a:cs typeface="Aptos"/>
              </a:rPr>
              <a:t>Generate Weekly Summary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2FE95FA-88D0-4B27-84E8-D04F2364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46120"/>
            <a:ext cx="3840480" cy="393192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B3A2F"/>
          </a:solidFill>
          <a:ln xmlns:a="http://schemas.openxmlformats.org/drawingml/2006/main" w="12700">
            <a:solidFill>
              <a:srgbClr val="2F5548">
                <a:alpha val="85000"/>
              </a:srgbClr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20C21F-7E67-45D4-9BFB-8B0F2BC1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346704"/>
            <a:ext cx="3108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E8F5ED"/>
                </a:solidFill>
                <a:latin typeface="Aptos"/>
                <a:ea typeface="Aptos"/>
                <a:cs typeface="Aptos"/>
              </a:rPr>
              <a:t>Analyze Growth Trends</a:t>
            </a:r>
            <a:endParaRPr sz="14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67F4922-0263-44BE-A14B-F7D56FD3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40480"/>
            <a:ext cx="3840480" cy="393192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B3A2F"/>
          </a:solidFill>
          <a:ln xmlns:a="http://schemas.openxmlformats.org/drawingml/2006/main" w="12700">
            <a:solidFill>
              <a:srgbClr val="2F5548">
                <a:alpha val="85000"/>
              </a:srgbClr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9D371E6-8DD0-41A4-901C-94D1CA3F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41064"/>
            <a:ext cx="3108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E8F5ED"/>
                </a:solidFill>
                <a:latin typeface="Aptos"/>
                <a:ea typeface="Aptos"/>
                <a:cs typeface="Aptos"/>
              </a:rPr>
              <a:t>Analyze Environment Conditions</a:t>
            </a:r>
            <a:endParaRPr sz="14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58482F5-A4DD-4AC8-9B05-6A307BD9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434840"/>
            <a:ext cx="3840480" cy="393192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1B3A2F"/>
          </a:solidFill>
          <a:ln xmlns:a="http://schemas.openxmlformats.org/drawingml/2006/main" w="12700">
            <a:solidFill>
              <a:srgbClr val="2F5548">
                <a:alpha val="85000"/>
              </a:srgbClr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8CF6145-E577-4FD0-BDD2-29A8D415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35424"/>
            <a:ext cx="31089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E8F5ED"/>
                </a:solidFill>
                <a:latin typeface="Aptos"/>
                <a:ea typeface="Aptos"/>
                <a:cs typeface="Aptos"/>
              </a:rPr>
              <a:t>Check Health Risks</a:t>
            </a:r>
            <a:endParaRPr sz="14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180BBA6-1620-4BCB-AA2E-D650EB04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526280"/>
            <a:ext cx="416052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1B3C4AA-4F07-40CB-A57C-960BDA5E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704121"/>
            <a:ext cx="1280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User benefit</a:t>
            </a:r>
            <a:endParaRPr sz="9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5A70633-78A4-4437-8630-2339629E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881962"/>
            <a:ext cx="3429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Users can generate only the analysis they need, section by section.</a:t>
            </a:r>
            <a:endParaRPr sz="14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2A52B0-C93C-4664-BA76-28A89A7B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50C6132-72E1-449D-BB03-AE3EEC05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952167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9E1123-7306-484D-BB6B-C9885A2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TECHNOLOGY STACK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B4BFBC-E712-421A-8941-9014E6E7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6583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A modular full-stack architecture built for clarity and expansion.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3CC9CE1-58EF-4910-8C40-7BD1D570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517904"/>
            <a:ext cx="5852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23838E-5639-48C9-98A7-A3918D0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3154680" cy="288036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671D4A-A5F6-4451-BEBB-D5ED164E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3172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Frontend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557250F-1459-4C92-A292-07F35426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88920"/>
            <a:ext cx="24688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React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Vite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CSS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Axios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React Router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1C6825F-2D9E-4E53-988D-211A0F88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3154680" cy="288036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503C50-0DA9-4BBF-9610-E16A6491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33172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Backend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7BBC854-19CE-4441-961B-15BBD45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788920"/>
            <a:ext cx="24688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FastAPI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SQLAlchemy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Pydantic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JWT Authentication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Password Hashing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813461F-69F7-4DAF-A11C-F5478FE3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057400"/>
            <a:ext cx="3154680" cy="288036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65DB48-AED8-420A-94C6-E54C86B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3172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Database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F63C428-FB2D-4EBF-983F-32E5E12B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88920"/>
            <a:ext cx="24688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SQLite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User model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Plant model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Plant log model</a:t>
            </a:r>
            <a:endParaRPr sz="1400"/>
          </a:p>
          <a:p xmlns:a="http://schemas.openxmlformats.org/drawingml/2006/main">
            <a:pPr marL="152400" indent="-152400">
              <a:buSzPct val="100000"/>
              <a:buChar char="•"/>
            </a:pPr>
            <a:r>
              <a:rPr sz="1400">
                <a:solidFill>
                  <a:srgbClr val="17201D"/>
                </a:solidFill>
                <a:latin typeface="Aptos"/>
                <a:ea typeface="Aptos"/>
                <a:cs typeface="Aptos"/>
              </a:rPr>
              <a:t>User-specific isolation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5542435-BCF2-4EFB-B4EC-AEE795B1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86399"/>
            <a:ext cx="10259568" cy="658369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0211B"/>
          </a:solidFill>
          <a:ln xmlns:a="http://schemas.openxmlformats.org/drawingml/2006/main" w="12700">
            <a:solidFill>
              <a:srgbClr val="10211B">
                <a:alpha val="85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CA6E375-3AFD-4443-8866-F7A05263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2704"/>
            <a:ext cx="96926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Architecture: Login &amp; signup → Protected routes → Plant pages → Log forms → Trends &amp; analysis dashboard → Contextual intelligence generation</a:t>
            </a:r>
            <a:endParaRPr sz="12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A7AA8A-F960-47F3-98B1-3BAC6A18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9E1197C-8B2C-48AF-826C-A48F32C7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704709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19D3CB-E127-46AD-91E3-37352C29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TARGET USERS &amp; IMPACT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94C58-7D14-45BD-A0F0-AB04E1A4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7498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Designed for practical plant care, learning and small-scale growing.</a:t>
            </a:r>
            <a:endParaRPr sz="3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2BFAF20-136B-471C-BE02-8E1F37B7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2148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4237"/>
          </a:solidFill>
          <a:ln xmlns:a="http://schemas.openxmlformats.org/drawingml/2006/main" w="12700">
            <a:solidFill>
              <a:srgbClr val="23423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11B9D9A-6152-43C9-BD57-FF581BBB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71116"/>
            <a:ext cx="2002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Home gardeners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2ADBAB1-F323-439B-8789-0EAD4ADC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11680"/>
            <a:ext cx="2148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4237"/>
          </a:solidFill>
          <a:ln xmlns:a="http://schemas.openxmlformats.org/drawingml/2006/main" w="12700">
            <a:solidFill>
              <a:srgbClr val="23423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F1FBA32-69CD-4AC7-BB20-B9CBCC5F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71116"/>
            <a:ext cx="2002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Indoor plant owners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3C09B42-96A2-48DA-A885-8890C00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11680"/>
            <a:ext cx="2148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4237"/>
          </a:solidFill>
          <a:ln xmlns:a="http://schemas.openxmlformats.org/drawingml/2006/main" w="12700">
            <a:solidFill>
              <a:srgbClr val="23423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99411B-C4C6-4D35-A10E-3856188E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71116"/>
            <a:ext cx="2002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Balcony gardeners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2B3F1FD-E853-42D0-A33C-BE634D23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148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4237"/>
          </a:solidFill>
          <a:ln xmlns:a="http://schemas.openxmlformats.org/drawingml/2006/main" w="12700">
            <a:solidFill>
              <a:srgbClr val="23423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1127AA-4E0E-44C8-84B8-AE8C13CD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71116"/>
            <a:ext cx="2002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Students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D13A6BB-1019-40C9-83B4-43424C1F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2148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4237"/>
          </a:solidFill>
          <a:ln xmlns:a="http://schemas.openxmlformats.org/drawingml/2006/main" w="12700">
            <a:solidFill>
              <a:srgbClr val="234237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93A218-0B36-465F-BB45-E319B1CF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92908"/>
            <a:ext cx="2002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Agriculture hobbyists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7DC578D-2978-4271-8F6C-A2607A04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33472"/>
            <a:ext cx="2148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4237"/>
          </a:solidFill>
          <a:ln xmlns:a="http://schemas.openxmlformats.org/drawingml/2006/main" w="12700">
            <a:solidFill>
              <a:srgbClr val="234237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32D5F8-5760-4058-A1F3-30CF9806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92908"/>
            <a:ext cx="2002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Small nursery owners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BB46407-DA75-4689-A5D8-7E428170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33472"/>
            <a:ext cx="2148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4237"/>
          </a:solidFill>
          <a:ln xmlns:a="http://schemas.openxmlformats.org/drawingml/2006/main" w="12700">
            <a:solidFill>
              <a:srgbClr val="23423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3FDCB8-FA64-430F-B3BB-391564A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692908"/>
            <a:ext cx="20025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Urban farming beginners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51694D6-17DF-40F8-BDE6-BE213E64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466344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BB42391-4A2C-40D4-9734-3DC13533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886200"/>
            <a:ext cx="1417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Better decisions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09A64A5-2343-44F6-9A45-7A2C4D23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904488"/>
            <a:ext cx="2514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E2ECE6"/>
                </a:solidFill>
                <a:latin typeface="Aptos"/>
                <a:ea typeface="Aptos"/>
                <a:cs typeface="Aptos"/>
              </a:rPr>
              <a:t>Understand care patterns before changing routines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48BC708-5BBD-4C04-800B-B186DDC3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49040"/>
            <a:ext cx="466344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A624D3-53EF-473E-B952-519F61D7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86200"/>
            <a:ext cx="1417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Early warnings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F11B7BB-FC66-4F0C-B59A-55428A35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904488"/>
            <a:ext cx="2514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E2ECE6"/>
                </a:solidFill>
                <a:latin typeface="Aptos"/>
                <a:ea typeface="Aptos"/>
                <a:cs typeface="Aptos"/>
              </a:rPr>
              <a:t>Spot repeated pests, diseases and environment mismatch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971186C-2BEB-4C15-9486-0825BBDC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09160"/>
            <a:ext cx="466344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16EA385-0927-4EB9-B186-2CF1E063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4846320"/>
            <a:ext cx="1417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Organized history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04EB523-629B-453E-B2FC-4579DCAB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864608"/>
            <a:ext cx="2514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E2ECE6"/>
                </a:solidFill>
                <a:latin typeface="Aptos"/>
                <a:ea typeface="Aptos"/>
                <a:cs typeface="Aptos"/>
              </a:rPr>
              <a:t>Keep growth, care, images and notes together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5B8B0A8-374D-469C-9E8F-A9D4AE80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09160"/>
            <a:ext cx="466344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2A"/>
          </a:solidFill>
          <a:ln xmlns:a="http://schemas.openxmlformats.org/drawingml/2006/main" w="12700">
            <a:solidFill>
              <a:srgbClr val="2C4D42">
                <a:alpha val="85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634B65-5C84-447C-873E-6D72A2CC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846320"/>
            <a:ext cx="1417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Beginner learning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58BC3D6-62FA-4717-B72F-D84CF5BC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25146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>
                <a:solidFill>
                  <a:srgbClr val="E2ECE6"/>
                </a:solidFill>
                <a:latin typeface="Aptos"/>
                <a:ea typeface="Aptos"/>
                <a:cs typeface="Aptos"/>
              </a:rPr>
              <a:t>Convert repeated logs into practical understanding</a:t>
            </a:r>
            <a:endParaRPr sz="14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ECDE783-6FD8-44A9-80C0-B85C04E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213B72E-AFC3-4BF5-A33F-FBBEFAF9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723235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C8A9C8-CD18-42DA-AD21-D57C1EF0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FUTURE SCOPE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CA571A-2AE2-4E29-8401-53B20AE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65836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17201D"/>
                </a:solidFill>
                <a:latin typeface="Aptos Display"/>
                <a:ea typeface="Aptos Display"/>
                <a:cs typeface="Aptos Display"/>
              </a:rPr>
              <a:t>A clear roadmap from tracking tool to plant-care intelligence platform.</a:t>
            </a:r>
            <a:endParaRPr sz="3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AEB888-ED37-40AA-9CBC-6FC46A8C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517904"/>
            <a:ext cx="5852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A22E37-FDFC-46E8-B64C-FDE787B8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23317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0D43DF-C04F-4812-82B3-5DD71765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258568"/>
            <a:ext cx="347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01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0832D90-3FDA-428B-B70E-B3081EFA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249424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More species profiles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707B8E3-BBE9-4EDE-994A-9B91C723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57400"/>
            <a:ext cx="23317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FA266F1-0A40-4D7C-8477-22D2E5E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258568"/>
            <a:ext cx="347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02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6057405-D8EE-4402-B253-F0C0F34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9424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Reminder system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8C5F743-7E48-42FF-8AF6-59A804C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57400"/>
            <a:ext cx="23317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010EFB-101C-41F1-BAE2-84156CE5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58568"/>
            <a:ext cx="347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03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EA4C306-7480-4387-8247-0F1BA5F9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249424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Export plant reports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95216A-8BE0-4F8F-9B9F-54CDA1C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57400"/>
            <a:ext cx="23317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3A6FC6A-12AF-453B-8622-C449A441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258568"/>
            <a:ext cx="347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04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2B3FCD7-A699-4674-8D6F-AA3FE4C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249424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Multi-language support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FBF40BA-1ADA-4738-87EF-5D4B9FA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23317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B8F7E4-4CCC-4959-B2AE-EA249B8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310128"/>
            <a:ext cx="347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05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19F441B-25AB-4A9B-8EA4-33C1487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300984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Community care templates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72B72B9-6685-48DE-8C37-727EE89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08960"/>
            <a:ext cx="23317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BB9BC03-D533-49C6-B93B-74A0516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310128"/>
            <a:ext cx="347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06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696043F-E620-4407-9D56-F7B64885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00984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Weather API integration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4969E7C-38C4-4A65-A112-890EE159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08960"/>
            <a:ext cx="23317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DC">
                <a:alpha val="85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27BCAD8-71DA-444B-9B26-4747409E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310128"/>
            <a:ext cx="347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07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128A0D2-F62A-4168-AAF3-BE7A87BA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300984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Mobile app version</a:t>
            </a:r>
            <a:endParaRPr sz="1250"/>
          </a:p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35c40c30d4353"/>
          <a:srcRect xmlns:a="http://schemas.openxmlformats.org/drawingml/2006/main" l="0" t="28847" r="0" b="28847"/>
          <a:stretch xmlns:a="http://schemas.openxmlformats.org/drawingml/2006/main"/>
        </p:blipFill>
        <p:spPr>
          <a:xfrm xmlns:a="http://schemas.openxmlformats.org/drawingml/2006/main">
            <a:off x="713232" y="4919472"/>
            <a:ext cx="4800600" cy="1143000"/>
          </a:xfrm>
          <a:prstGeom xmlns:a="http://schemas.openxmlformats.org/drawingml/2006/main" prst="rect">
            <a:avLst/>
          </a:prstGeom>
        </p:spPr>
      </p:pic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F32E199-D51A-406E-9BC4-675CB7C7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864608"/>
            <a:ext cx="525780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E8"/>
          </a:solidFill>
          <a:ln xmlns:a="http://schemas.openxmlformats.org/drawingml/2006/main" w="12700">
            <a:solidFill>
              <a:srgbClr val="EAF4E8">
                <a:alpha val="85000"/>
              </a:srgbClr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5733BDA-FA6E-43CD-B85A-494E02CC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188" y="5023789"/>
            <a:ext cx="11430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The direction</a:t>
            </a:r>
            <a:endParaRPr sz="14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D17D260-5A55-4658-9192-E264D89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5234100"/>
            <a:ext cx="4370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201D"/>
                </a:solidFill>
                <a:latin typeface="Aptos"/>
                <a:ea typeface="Aptos"/>
                <a:cs typeface="Aptos"/>
              </a:rPr>
              <a:t>LeafLogic can grow into a personal plant-care knowledge base built from real user history.</a:t>
            </a:r>
            <a:endParaRPr sz="14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F251DB5-7659-4070-A5F7-0EB842E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3DC">
                <a:alpha val="75000"/>
              </a:srgbClr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8099454-095E-4E20-B7D0-0FEA5EC4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5212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65716C"/>
                </a:solidFill>
                <a:latin typeface="Aptos"/>
                <a:ea typeface="Aptos"/>
                <a:cs typeface="Aptos"/>
              </a:rPr>
              <a:t>LeafLogic • Plant Growth Intelligence &amp; Decision Platform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94790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e92d7250c490c"/>
          <a:srcRect xmlns:a="http://schemas.openxmlformats.org/drawingml/2006/main" l="5181" t="0" r="5181" b="0"/>
          <a:stretch xmlns:a="http://schemas.openxmlformats.org/drawingml/2006/main"/>
        </p:blipFill>
        <p:spPr>
          <a:xfrm xmlns:a="http://schemas.openxmlformats.org/drawingml/2006/main">
            <a:off x="6309360" y="0"/>
            <a:ext cx="587959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2C215C4-D847-4078-A107-187DA26F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368"/>
            <a:ext cx="2011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CONCLUSION</a:t>
            </a:r>
            <a:endParaRPr sz="14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B76AF52-0E44-4C71-BCAB-F8055935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8992"/>
            <a:ext cx="512064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LeafLogic turns plant care from guesswork into intelligent, explainable decisions.</a:t>
            </a:r>
            <a:endParaRPr sz="37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98A5A5-DF28-4D1D-91C9-93BF7916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91610"/>
            <a:ext cx="44805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DCE8E1"/>
                </a:solidFill>
                <a:latin typeface="Aptos"/>
                <a:ea typeface="Aptos"/>
                <a:cs typeface="Aptos"/>
              </a:rPr>
              <a:t>It helps users understand not just what happened to their plants, but why it happened and what to do next.</a:t>
            </a:r>
            <a:endParaRPr sz="16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FD4BCE9-FA60-4F11-8ACF-6E0A13B0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2167"/>
            <a:ext cx="429768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2F"/>
          </a:solidFill>
          <a:ln xmlns:a="http://schemas.openxmlformats.org/drawingml/2006/main" w="12700">
            <a:solidFill>
              <a:srgbClr val="2D5346">
                <a:alpha val="85000"/>
              </a:srgbClr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93E2D68-FC1A-4D59-A668-ACE4AAAE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79141"/>
            <a:ext cx="3657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9ED47B"/>
                </a:solidFill>
                <a:latin typeface="Aptos"/>
                <a:ea typeface="Aptos"/>
                <a:cs typeface="Aptos"/>
              </a:rPr>
              <a:t>Plants cannot tell us what is wrong, but their data can.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E43CE0-90AD-42B6-8BF2-8D45BB64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78" y="5779754"/>
            <a:ext cx="2599509" cy="572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826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 to validate with real growers.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199900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2026-08-31T16:28:41.6140000Z</dcterms:created>
  <dcterms:modified xsi:type="dcterms:W3CDTF">2026-08-31T16:28:41.6140000Z</dcterms:modified>
</coreProperties>
</file>